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5076a095e6b49af" /><Relationship Type="http://schemas.openxmlformats.org/officeDocument/2006/relationships/extended-properties" Target="/docProps/app.xml" Id="R3bc326e9f38b4461" /><Relationship Type="http://schemas.openxmlformats.org/officeDocument/2006/relationships/officeDocument" Target="/ppt/presentation.xml" Id="R454b3d5cb21f43a7" /></Relationships>
</file>

<file path=ppt/presentation.xml><?xml version="1.0" encoding="utf-8"?>
<p:presentation xmlns:p="http://schemas.openxmlformats.org/presentationml/2006/main">
  <p:sldMasterIdLst>
    <p:sldMasterId xmlns:r="http://schemas.openxmlformats.org/officeDocument/2006/relationships" id="2147483648" r:id="Re72350e4dab541e1"/>
  </p:sldMasterIdLst>
  <p:notesMasterIdLst>
    <p:notesMasterId xmlns:r="http://schemas.openxmlformats.org/officeDocument/2006/relationships" r:id="Rad881addd43b4c5e"/>
  </p:notesMasterIdLst>
  <p:sldIdLst>
    <p:sldId xmlns:r="http://schemas.openxmlformats.org/officeDocument/2006/relationships" id="256" r:id="R7e7e99406da346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10f8f215a374a9a" /><Relationship Type="http://schemas.openxmlformats.org/officeDocument/2006/relationships/slideMaster" Target="/ppt/slideMasters/slideMaster1.xml" Id="Re72350e4dab541e1" /><Relationship Type="http://schemas.openxmlformats.org/officeDocument/2006/relationships/notesMaster" Target="/ppt/notesMasters/notesMaster1.xml" Id="Rad881addd43b4c5e" /><Relationship Type="http://schemas.openxmlformats.org/officeDocument/2006/relationships/presProps" Target="/ppt/presProps.xml" Id="R7694b7a5547a426c" /><Relationship Type="http://schemas.openxmlformats.org/officeDocument/2006/relationships/tableStyles" Target="/ppt/tableStyles.xml" Id="Ra5c740b553ec4ed6" /><Relationship Type="http://schemas.openxmlformats.org/officeDocument/2006/relationships/slide" Target="/ppt/slides/slide1.xml" Id="R7e7e99406da346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038a1cb9a42411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f4810b4cd1426e" /><Relationship Type="http://schemas.openxmlformats.org/officeDocument/2006/relationships/notesMaster" Target="/ppt/notesMasters/notesMaster1.xml" Id="Re53451198c7d41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Based on the agent-commerce-demo implementation. Direct agent-to-agent conversations remain available for discovery, but middleware replaces price claims with fixed catalogue data and a caveat. Provider adapters submit sealed, salted commitments without accepting model-supplied prices. The arbiter computes the equal-weight Nash bargaining solution for linear utilities over the buyer ceiling and provider floor, or returns NO AGREEMENT when the feasible interval is empty. Owner credentials remain outside agent context and alone control settlement. Sources: John F. Nash Jr., The Bargaining Problem, Econometrica 18(2), 1950, https://www.jstor.org/stable/1907266. Roger B. Myerson and Mark A. Satterthwaite, Efficient Mechanisms for Bilateral Trading, Journal of Economic Theory 29(2), 1983, https://doi.org/10.1016/0022-0531(83)90048-0.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99c90d6a9c4e4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f830d8b7d9497f" /><Relationship Type="http://schemas.openxmlformats.org/officeDocument/2006/relationships/slideLayout" Target="/ppt/slideLayouts/slideLayout1.xml" Id="R74d2576ca73f440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4d2576ca73f440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59e7665f53f4db6" /><Relationship Type="http://schemas.openxmlformats.org/officeDocument/2006/relationships/notesSlide" Target="/ppt/notesSlides/notesSlide1.xml" Id="R00f54add081440b0" /></Relationships>
</file>

<file path=ppt/slides/slide1.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D45C894F-734B-4771-8ACE-7B1B082E9999}"/>
              </a:ext>
            </a:extLst>
          </p:cNvPr>
          <p:cNvSpPr>
            <a:spLocks xmlns:a="http://schemas.openxmlformats.org/drawingml/2006/main" noGrp="1"/>
          </p:cNvSpPr>
          <p:nvPr/>
        </p:nvSpPr>
        <p:spPr>
          <a:xfrm xmlns:a="http://schemas.openxmlformats.org/drawingml/2006/main">
            <a:off x="609600" y="37147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225" b="1">
                <a:solidFill>
                  <a:srgbClr val="172019"/>
                </a:solidFill>
                <a:latin typeface="Helvetica Neue"/>
                <a:ea typeface="Helvetica Neue"/>
                <a:cs typeface="Helvetica Neue"/>
              </a:defRPr>
            </a:pPr>
            <a:r>
              <a:rPr sz="3225" b="1">
                <a:solidFill>
                  <a:srgbClr val="172019"/>
                </a:solidFill>
                <a:latin typeface="Helvetica Neue"/>
                <a:ea typeface="Helvetica Neue"/>
                <a:cs typeface="Helvetica Neue"/>
              </a:rPr>
              <a:t>Commerce arbiter: shared transaction authority</a:t>
            </a:r>
          </a:p>
        </p:txBody>
      </p:sp>
      <p:sp>
        <p:nvSpPr>
          <p:cNvPr id="2" name="">
            <a:extLst xmlns:a="http://schemas.openxmlformats.org/drawingml/2006/main">
              <a:ext uri="{FF2B5EF4-FFF2-40B4-BE49-F238E27FC236}">
                <a16:creationId xmlns:a16="http://schemas.microsoft.com/office/drawing/2014/main" id="{0F07A69B-AFAF-472D-AE90-12F2AE46D5B4}"/>
              </a:ext>
            </a:extLst>
          </p:cNvPr>
          <p:cNvSpPr>
            <a:spLocks xmlns:a="http://schemas.openxmlformats.org/drawingml/2006/main" noGrp="1"/>
          </p:cNvSpPr>
          <p:nvPr/>
        </p:nvSpPr>
        <p:spPr>
          <a:xfrm xmlns:a="http://schemas.openxmlformats.org/drawingml/2006/main">
            <a:off x="628650" y="97155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0">
                <a:solidFill>
                  <a:srgbClr val="647066"/>
                </a:solidFill>
                <a:latin typeface="Helvetica Neue"/>
                <a:ea typeface="Helvetica Neue"/>
                <a:cs typeface="Helvetica Neue"/>
              </a:defRPr>
            </a:pPr>
            <a:r>
              <a:rPr sz="1725" b="0">
                <a:solidFill>
                  <a:srgbClr val="647066"/>
                </a:solidFill>
                <a:latin typeface="Helvetica Neue"/>
                <a:ea typeface="Helvetica Neue"/>
                <a:cs typeface="Helvetica Neue"/>
              </a:rPr>
              <a:t>Direct A2A supports discovery. Sealed bids let the arbiter compute a compromise—or no deal.</a:t>
            </a:r>
          </a:p>
        </p:txBody>
      </p:sp>
      <p:sp>
        <p:nvSpPr>
          <p:cNvPr id="3" name="">
            <a:extLst xmlns:a="http://schemas.openxmlformats.org/drawingml/2006/main">
              <a:ext uri="{FF2B5EF4-FFF2-40B4-BE49-F238E27FC236}">
                <a16:creationId xmlns:a16="http://schemas.microsoft.com/office/drawing/2014/main" id="{BE7106EE-4EC1-44FE-91F9-FCB0BC355BA5}"/>
              </a:ext>
            </a:extLst>
          </p:cNvPr>
          <p:cNvSpPr>
            <a:spLocks xmlns:a="http://schemas.openxmlformats.org/drawingml/2006/main" noGrp="1"/>
          </p:cNvSpPr>
          <p:nvPr/>
        </p:nvSpPr>
        <p:spPr>
          <a:xfrm xmlns:a="http://schemas.openxmlformats.org/drawingml/2006/main">
            <a:off x="628650" y="2743200"/>
            <a:ext cx="2381250" cy="1619250"/>
          </a:xfrm>
          <a:prstGeom xmlns:a="http://schemas.openxmlformats.org/drawingml/2006/main" prst="roundRect">
            <a:avLst>
              <a:gd name="adj" fmla="val 10588"/>
            </a:avLst>
          </a:prstGeom>
          <a:solidFill xmlns:a="http://schemas.openxmlformats.org/drawingml/2006/main">
            <a:srgbClr val="4A6FE3"/>
          </a:solidFill>
          <a:ln xmlns:a="http://schemas.openxmlformats.org/drawingml/2006/main" w="9525">
            <a:solidFill>
              <a:srgbClr val="4A6FE3"/>
            </a:solidFill>
            <a:prstDash val="solid"/>
          </a:ln>
        </p:spPr>
      </p:sp>
      <p:sp>
        <p:nvSpPr>
          <p:cNvPr id="4" name="">
            <a:extLst xmlns:a="http://schemas.openxmlformats.org/drawingml/2006/main">
              <a:ext uri="{FF2B5EF4-FFF2-40B4-BE49-F238E27FC236}">
                <a16:creationId xmlns:a16="http://schemas.microsoft.com/office/drawing/2014/main" id="{2696941B-95A4-4DE5-8F6E-79C2298D0A9B}"/>
              </a:ext>
            </a:extLst>
          </p:cNvPr>
          <p:cNvSpPr>
            <a:spLocks xmlns:a="http://schemas.openxmlformats.org/drawingml/2006/main" noGrp="1"/>
          </p:cNvSpPr>
          <p:nvPr/>
        </p:nvSpPr>
        <p:spPr>
          <a:xfrm xmlns:a="http://schemas.openxmlformats.org/drawingml/2006/main">
            <a:off x="847725" y="2981325"/>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CONSUMER AGENT NETWORK</a:t>
            </a:r>
          </a:p>
        </p:txBody>
      </p:sp>
      <p:sp>
        <p:nvSpPr>
          <p:cNvPr id="5" name="">
            <a:extLst xmlns:a="http://schemas.openxmlformats.org/drawingml/2006/main">
              <a:ext uri="{FF2B5EF4-FFF2-40B4-BE49-F238E27FC236}">
                <a16:creationId xmlns:a16="http://schemas.microsoft.com/office/drawing/2014/main" id="{812C6EF5-D20C-4679-B17D-A129FEAC92F2}"/>
              </a:ext>
            </a:extLst>
          </p:cNvPr>
          <p:cNvSpPr>
            <a:spLocks xmlns:a="http://schemas.openxmlformats.org/drawingml/2006/main" noGrp="1"/>
          </p:cNvSpPr>
          <p:nvPr/>
        </p:nvSpPr>
        <p:spPr>
          <a:xfrm xmlns:a="http://schemas.openxmlformats.org/drawingml/2006/main">
            <a:off x="828675" y="3400425"/>
            <a:ext cx="19812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Mandate specialist</a:t>
            </a:r>
          </a:p>
          <a:p xmlns:a="http://schemas.openxmlformats.org/drawingml/2006/main">
            <a:pPr algn="ctr">
              <a:lnSpc>
                <a:spcPct val="112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Research and comparison agents</a:t>
            </a:r>
          </a:p>
        </p:txBody>
      </p:sp>
      <p:sp>
        <p:nvSpPr>
          <p:cNvPr id="6" name="">
            <a:extLst xmlns:a="http://schemas.openxmlformats.org/drawingml/2006/main">
              <a:ext uri="{FF2B5EF4-FFF2-40B4-BE49-F238E27FC236}">
                <a16:creationId xmlns:a16="http://schemas.microsoft.com/office/drawing/2014/main" id="{84E5099F-767D-4CAA-9D0C-31C2F2117766}"/>
              </a:ext>
            </a:extLst>
          </p:cNvPr>
          <p:cNvSpPr>
            <a:spLocks xmlns:a="http://schemas.openxmlformats.org/drawingml/2006/main" noGrp="1"/>
          </p:cNvSpPr>
          <p:nvPr/>
        </p:nvSpPr>
        <p:spPr>
          <a:xfrm xmlns:a="http://schemas.openxmlformats.org/drawingml/2006/main">
            <a:off x="9182100" y="2743200"/>
            <a:ext cx="2381250" cy="1619250"/>
          </a:xfrm>
          <a:prstGeom xmlns:a="http://schemas.openxmlformats.org/drawingml/2006/main" prst="roundRect">
            <a:avLst>
              <a:gd name="adj" fmla="val 10588"/>
            </a:avLst>
          </a:prstGeom>
          <a:solidFill xmlns:a="http://schemas.openxmlformats.org/drawingml/2006/main">
            <a:srgbClr val="EF765F"/>
          </a:solidFill>
          <a:ln xmlns:a="http://schemas.openxmlformats.org/drawingml/2006/main" w="9525">
            <a:solidFill>
              <a:srgbClr val="EF765F"/>
            </a:solidFill>
            <a:prstDash val="solid"/>
          </a:ln>
        </p:spPr>
      </p:sp>
      <p:sp>
        <p:nvSpPr>
          <p:cNvPr id="7" name="">
            <a:extLst xmlns:a="http://schemas.openxmlformats.org/drawingml/2006/main">
              <a:ext uri="{FF2B5EF4-FFF2-40B4-BE49-F238E27FC236}">
                <a16:creationId xmlns:a16="http://schemas.microsoft.com/office/drawing/2014/main" id="{A7FC8602-9D5A-4E20-9759-2F9BF1331157}"/>
              </a:ext>
            </a:extLst>
          </p:cNvPr>
          <p:cNvSpPr>
            <a:spLocks xmlns:a="http://schemas.openxmlformats.org/drawingml/2006/main" noGrp="1"/>
          </p:cNvSpPr>
          <p:nvPr/>
        </p:nvSpPr>
        <p:spPr>
          <a:xfrm xmlns:a="http://schemas.openxmlformats.org/drawingml/2006/main">
            <a:off x="9401175" y="2981325"/>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B2C AGENT NETWORKS</a:t>
            </a:r>
          </a:p>
        </p:txBody>
      </p:sp>
      <p:sp>
        <p:nvSpPr>
          <p:cNvPr id="8" name="">
            <a:extLst xmlns:a="http://schemas.openxmlformats.org/drawingml/2006/main">
              <a:ext uri="{FF2B5EF4-FFF2-40B4-BE49-F238E27FC236}">
                <a16:creationId xmlns:a16="http://schemas.microsoft.com/office/drawing/2014/main" id="{9D670A8C-37ED-441B-A44C-F8BD7D5DC492}"/>
              </a:ext>
            </a:extLst>
          </p:cNvPr>
          <p:cNvSpPr>
            <a:spLocks xmlns:a="http://schemas.openxmlformats.org/drawingml/2006/main" noGrp="1"/>
          </p:cNvSpPr>
          <p:nvPr/>
        </p:nvSpPr>
        <p:spPr>
          <a:xfrm xmlns:a="http://schemas.openxmlformats.org/drawingml/2006/main">
            <a:off x="9382125" y="3400425"/>
            <a:ext cx="19812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Travel providers</a:t>
            </a:r>
          </a:p>
          <a:p xmlns:a="http://schemas.openxmlformats.org/drawingml/2006/main">
            <a:pPr algn="ctr">
              <a:lnSpc>
                <a:spcPct val="112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Macy’s and CarMax</a:t>
            </a:r>
          </a:p>
        </p:txBody>
      </p:sp>
      <p:sp>
        <p:nvSpPr>
          <p:cNvPr id="9" name="">
            <a:extLst xmlns:a="http://schemas.openxmlformats.org/drawingml/2006/main">
              <a:ext uri="{FF2B5EF4-FFF2-40B4-BE49-F238E27FC236}">
                <a16:creationId xmlns:a16="http://schemas.microsoft.com/office/drawing/2014/main" id="{542C4C21-559A-48FC-B49E-5E00A946E32B}"/>
              </a:ext>
            </a:extLst>
          </p:cNvPr>
          <p:cNvSpPr>
            <a:spLocks xmlns:a="http://schemas.openxmlformats.org/drawingml/2006/main" noGrp="1"/>
          </p:cNvSpPr>
          <p:nvPr/>
        </p:nvSpPr>
        <p:spPr>
          <a:xfrm xmlns:a="http://schemas.openxmlformats.org/drawingml/2006/main">
            <a:off x="4495800" y="2333625"/>
            <a:ext cx="3200400" cy="2571750"/>
          </a:xfrm>
          <a:prstGeom xmlns:a="http://schemas.openxmlformats.org/drawingml/2006/main" prst="roundRect">
            <a:avLst>
              <a:gd name="adj" fmla="val 8889"/>
            </a:avLst>
          </a:prstGeom>
          <a:solidFill xmlns:a="http://schemas.openxmlformats.org/drawingml/2006/main">
            <a:srgbClr val="C9FF57"/>
          </a:solidFill>
          <a:ln xmlns:a="http://schemas.openxmlformats.org/drawingml/2006/main" w="9525">
            <a:solidFill>
              <a:srgbClr val="416312"/>
            </a:solidFill>
            <a:prstDash val="solid"/>
          </a:ln>
        </p:spPr>
      </p:sp>
      <p:sp>
        <p:nvSpPr>
          <p:cNvPr id="10" name="">
            <a:extLst xmlns:a="http://schemas.openxmlformats.org/drawingml/2006/main">
              <a:ext uri="{FF2B5EF4-FFF2-40B4-BE49-F238E27FC236}">
                <a16:creationId xmlns:a16="http://schemas.microsoft.com/office/drawing/2014/main" id="{A336363B-13A9-4D72-AE6A-04C9EB306F59}"/>
              </a:ext>
            </a:extLst>
          </p:cNvPr>
          <p:cNvSpPr>
            <a:spLocks xmlns:a="http://schemas.openxmlformats.org/drawingml/2006/main" noGrp="1"/>
          </p:cNvSpPr>
          <p:nvPr/>
        </p:nvSpPr>
        <p:spPr>
          <a:xfrm xmlns:a="http://schemas.openxmlformats.org/drawingml/2006/main">
            <a:off x="4762500" y="2533650"/>
            <a:ext cx="266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00" b="1">
                <a:solidFill>
                  <a:srgbClr val="172019"/>
                </a:solidFill>
                <a:latin typeface="Helvetica Neue"/>
                <a:ea typeface="Helvetica Neue"/>
                <a:cs typeface="Helvetica Neue"/>
              </a:defRPr>
            </a:pPr>
            <a:r>
              <a:rPr sz="1800" b="1">
                <a:solidFill>
                  <a:srgbClr val="172019"/>
                </a:solidFill>
                <a:latin typeface="Helvetica Neue"/>
                <a:ea typeface="Helvetica Neue"/>
                <a:cs typeface="Helvetica Neue"/>
              </a:rPr>
              <a:t>COMMERCE ARBITER</a:t>
            </a:r>
          </a:p>
        </p:txBody>
      </p:sp>
      <p:sp>
        <p:nvSpPr>
          <p:cNvPr id="11" name="">
            <a:extLst xmlns:a="http://schemas.openxmlformats.org/drawingml/2006/main">
              <a:ext uri="{FF2B5EF4-FFF2-40B4-BE49-F238E27FC236}">
                <a16:creationId xmlns:a16="http://schemas.microsoft.com/office/drawing/2014/main" id="{8A85F69C-C582-405D-B3AA-9AA0D7836F63}"/>
              </a:ext>
            </a:extLst>
          </p:cNvPr>
          <p:cNvSpPr>
            <a:spLocks xmlns:a="http://schemas.openxmlformats.org/drawingml/2006/main" noGrp="1"/>
          </p:cNvSpPr>
          <p:nvPr/>
        </p:nvSpPr>
        <p:spPr>
          <a:xfrm xmlns:a="http://schemas.openxmlformats.org/drawingml/2006/main">
            <a:off x="4876800" y="2924175"/>
            <a:ext cx="2438400" cy="0"/>
          </a:xfrm>
          <a:prstGeom xmlns:a="http://schemas.openxmlformats.org/drawingml/2006/main" prst="line">
            <a:avLst/>
          </a:prstGeom>
          <a:noFill xmlns:a="http://schemas.openxmlformats.org/drawingml/2006/main"/>
          <a:ln xmlns:a="http://schemas.openxmlformats.org/drawingml/2006/main" w="9525">
            <a:solidFill>
              <a:srgbClr val="416312"/>
            </a:solidFill>
            <a:prstDash val="solid"/>
          </a:ln>
        </p:spPr>
      </p:sp>
      <p:sp>
        <p:nvSpPr>
          <p:cNvPr id="12" name="">
            <a:extLst xmlns:a="http://schemas.openxmlformats.org/drawingml/2006/main">
              <a:ext uri="{FF2B5EF4-FFF2-40B4-BE49-F238E27FC236}">
                <a16:creationId xmlns:a16="http://schemas.microsoft.com/office/drawing/2014/main" id="{B1245EAC-331B-4C7B-AA98-FA098B9F68C2}"/>
              </a:ext>
            </a:extLst>
          </p:cNvPr>
          <p:cNvSpPr>
            <a:spLocks xmlns:a="http://schemas.openxmlformats.org/drawingml/2006/main" noGrp="1"/>
          </p:cNvSpPr>
          <p:nvPr/>
        </p:nvSpPr>
        <p:spPr>
          <a:xfrm xmlns:a="http://schemas.openxmlformats.org/drawingml/2006/main">
            <a:off x="4743450" y="3076575"/>
            <a:ext cx="270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0">
                <a:solidFill>
                  <a:srgbClr val="172019"/>
                </a:solidFill>
                <a:latin typeface="Helvetica Neue"/>
                <a:ea typeface="Helvetica Neue"/>
                <a:cs typeface="Helvetica Neue"/>
              </a:defRPr>
            </a:pPr>
            <a:r>
              <a:rPr sz="1500" b="0">
                <a:solidFill>
                  <a:srgbClr val="172019"/>
                </a:solidFill>
                <a:latin typeface="Helvetica Neue"/>
                <a:ea typeface="Helvetica Neue"/>
                <a:cs typeface="Helvetica Neue"/>
              </a:rPr>
              <a:t>Keeps raw values out of agent messages</a:t>
            </a:r>
          </a:p>
        </p:txBody>
      </p:sp>
      <p:sp>
        <p:nvSpPr>
          <p:cNvPr id="13" name="">
            <a:extLst xmlns:a="http://schemas.openxmlformats.org/drawingml/2006/main">
              <a:ext uri="{FF2B5EF4-FFF2-40B4-BE49-F238E27FC236}">
                <a16:creationId xmlns:a16="http://schemas.microsoft.com/office/drawing/2014/main" id="{7203BB7D-8656-4276-A9E7-CC55DF07A241}"/>
              </a:ext>
            </a:extLst>
          </p:cNvPr>
          <p:cNvSpPr>
            <a:spLocks xmlns:a="http://schemas.openxmlformats.org/drawingml/2006/main" noGrp="1"/>
          </p:cNvSpPr>
          <p:nvPr/>
        </p:nvSpPr>
        <p:spPr>
          <a:xfrm xmlns:a="http://schemas.openxmlformats.org/drawingml/2006/main">
            <a:off x="4743450" y="3505200"/>
            <a:ext cx="270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0">
                <a:solidFill>
                  <a:srgbClr val="172019"/>
                </a:solidFill>
                <a:latin typeface="Helvetica Neue"/>
                <a:ea typeface="Helvetica Neue"/>
                <a:cs typeface="Helvetica Neue"/>
              </a:defRPr>
            </a:pPr>
            <a:r>
              <a:rPr sz="1500" b="0">
                <a:solidFill>
                  <a:srgbClr val="172019"/>
                </a:solidFill>
                <a:latin typeface="Helvetica Neue"/>
                <a:ea typeface="Helvetica Neue"/>
                <a:cs typeface="Helvetica Neue"/>
              </a:rPr>
              <a:t>Computes equal-weight Nash compromise</a:t>
            </a:r>
          </a:p>
        </p:txBody>
      </p:sp>
      <p:sp>
        <p:nvSpPr>
          <p:cNvPr id="14" name="">
            <a:extLst xmlns:a="http://schemas.openxmlformats.org/drawingml/2006/main">
              <a:ext uri="{FF2B5EF4-FFF2-40B4-BE49-F238E27FC236}">
                <a16:creationId xmlns:a16="http://schemas.microsoft.com/office/drawing/2014/main" id="{2880ABEC-1566-42D6-BC50-CF733793B7A4}"/>
              </a:ext>
            </a:extLst>
          </p:cNvPr>
          <p:cNvSpPr>
            <a:spLocks xmlns:a="http://schemas.openxmlformats.org/drawingml/2006/main" noGrp="1"/>
          </p:cNvSpPr>
          <p:nvPr/>
        </p:nvSpPr>
        <p:spPr>
          <a:xfrm xmlns:a="http://schemas.openxmlformats.org/drawingml/2006/main">
            <a:off x="4743450" y="3962400"/>
            <a:ext cx="2705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0">
                <a:solidFill>
                  <a:srgbClr val="172019"/>
                </a:solidFill>
                <a:latin typeface="Helvetica Neue"/>
                <a:ea typeface="Helvetica Neue"/>
                <a:cs typeface="Helvetica Neue"/>
              </a:defRPr>
            </a:pPr>
            <a:r>
              <a:rPr sz="1500" b="0">
                <a:solidFill>
                  <a:srgbClr val="172019"/>
                </a:solidFill>
                <a:latin typeface="Helvetica Neue"/>
                <a:ea typeface="Helvetica Neue"/>
                <a:cs typeface="Helvetica Neue"/>
              </a:rPr>
              <a:t>Registers an offer or NO AGREEMENT</a:t>
            </a:r>
          </a:p>
        </p:txBody>
      </p:sp>
      <p:sp>
        <p:nvSpPr>
          <p:cNvPr id="15" name="">
            <a:extLst xmlns:a="http://schemas.openxmlformats.org/drawingml/2006/main">
              <a:ext uri="{FF2B5EF4-FFF2-40B4-BE49-F238E27FC236}">
                <a16:creationId xmlns:a16="http://schemas.microsoft.com/office/drawing/2014/main" id="{5F00768E-5E35-4C21-B34D-B9AA3A798337}"/>
              </a:ext>
            </a:extLst>
          </p:cNvPr>
          <p:cNvSpPr>
            <a:spLocks xmlns:a="http://schemas.openxmlformats.org/drawingml/2006/main" noGrp="1"/>
          </p:cNvSpPr>
          <p:nvPr/>
        </p:nvSpPr>
        <p:spPr>
          <a:xfrm xmlns:a="http://schemas.openxmlformats.org/drawingml/2006/main">
            <a:off x="4762500" y="44672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416312"/>
                </a:solidFill>
                <a:latin typeface="Helvetica Neue"/>
                <a:ea typeface="Helvetica Neue"/>
                <a:cs typeface="Helvetica Neue"/>
              </a:defRPr>
            </a:pPr>
            <a:r>
              <a:rPr sz="1350" b="1">
                <a:solidFill>
                  <a:srgbClr val="416312"/>
                </a:solidFill>
                <a:latin typeface="Helvetica Neue"/>
                <a:ea typeface="Helvetica Neue"/>
                <a:cs typeface="Helvetica Neue"/>
              </a:rPr>
              <a:t>Owner approval controls hold and settlement</a:t>
            </a:r>
          </a:p>
        </p:txBody>
      </p:sp>
      <p:sp>
        <p:nvSpPr>
          <p:cNvPr id="16" name="">
            <a:extLst xmlns:a="http://schemas.openxmlformats.org/drawingml/2006/main">
              <a:ext uri="{FF2B5EF4-FFF2-40B4-BE49-F238E27FC236}">
                <a16:creationId xmlns:a16="http://schemas.microsoft.com/office/drawing/2014/main" id="{80E0E026-0C9F-4F13-9BE5-FA0E9EFE7857}"/>
              </a:ext>
            </a:extLst>
          </p:cNvPr>
          <p:cNvSpPr>
            <a:spLocks xmlns:a="http://schemas.openxmlformats.org/drawingml/2006/main" noGrp="1"/>
          </p:cNvSpPr>
          <p:nvPr/>
        </p:nvSpPr>
        <p:spPr>
          <a:xfrm xmlns:a="http://schemas.openxmlformats.org/drawingml/2006/main">
            <a:off x="3000375" y="2124075"/>
            <a:ext cx="19050" cy="19050"/>
          </a:xfrm>
          <a:prstGeom xmlns:a="http://schemas.openxmlformats.org/drawingml/2006/main" prst="ellipse">
            <a:avLst/>
          </a:prstGeom>
          <a:solidFill xmlns:a="http://schemas.openxmlformats.org/drawingml/2006/main">
            <a:srgbClr val="F4F1E8"/>
          </a:solidFill>
          <a:ln xmlns:a="http://schemas.openxmlformats.org/drawingml/2006/main" w="0">
            <a:solidFill>
              <a:srgbClr val="F4F1E8"/>
            </a:solidFill>
          </a:ln>
        </p:spPr>
      </p:sp>
      <p:sp>
        <p:nvSpPr>
          <p:cNvPr id="17" name="">
            <a:extLst xmlns:a="http://schemas.openxmlformats.org/drawingml/2006/main">
              <a:ext uri="{FF2B5EF4-FFF2-40B4-BE49-F238E27FC236}">
                <a16:creationId xmlns:a16="http://schemas.microsoft.com/office/drawing/2014/main" id="{457E3B60-4C26-4540-9CD3-0A68E96A570C}"/>
              </a:ext>
            </a:extLst>
          </p:cNvPr>
          <p:cNvSpPr>
            <a:spLocks xmlns:a="http://schemas.openxmlformats.org/drawingml/2006/main" noGrp="1"/>
          </p:cNvSpPr>
          <p:nvPr/>
        </p:nvSpPr>
        <p:spPr>
          <a:xfrm xmlns:a="http://schemas.openxmlformats.org/drawingml/2006/main">
            <a:off x="9172575" y="2124075"/>
            <a:ext cx="19050" cy="19050"/>
          </a:xfrm>
          <a:prstGeom xmlns:a="http://schemas.openxmlformats.org/drawingml/2006/main" prst="ellipse">
            <a:avLst/>
          </a:prstGeom>
          <a:solidFill xmlns:a="http://schemas.openxmlformats.org/drawingml/2006/main">
            <a:srgbClr val="F4F1E8"/>
          </a:solidFill>
          <a:ln xmlns:a="http://schemas.openxmlformats.org/drawingml/2006/main" w="0">
            <a:solidFill>
              <a:srgbClr val="F4F1E8"/>
            </a:solidFill>
          </a:ln>
        </p:spPr>
      </p:sp>
      <p:cxnSp>
        <p:nvCxnSpPr>
          <p:cNvPr id="51" name=""/>
          <p:cNvCxnSpPr>
            <a:stCxn xmlns:a="http://schemas.openxmlformats.org/drawingml/2006/main" id="16" idx="6"/>
            <a:endCxn xmlns:a="http://schemas.openxmlformats.org/drawingml/2006/main" id="17" idx="2"/>
          </p:cNvCxnSpPr>
          <p:nvPr/>
        </p:nvCxnSpPr>
        <p:spPr>
          <a:xfrm xmlns:a="http://schemas.openxmlformats.org/drawingml/2006/main">
            <a:off x="3019425" y="2133600"/>
            <a:ext cx="6153150" cy="0"/>
          </a:xfrm>
          <a:prstGeom xmlns:a="http://schemas.openxmlformats.org/drawingml/2006/main" prst="straightConnector1">
            <a:avLst/>
          </a:prstGeom>
          <a:ln xmlns:a="http://schemas.openxmlformats.org/drawingml/2006/main" w="19050">
            <a:solidFill>
              <a:srgbClr val="A7B0A7"/>
            </a:solidFill>
            <a:prstDash val="dash"/>
            <a:headEnd type="arrow" w="sm" len="sm"/>
            <a:tailEnd type="arrow" w="sm" len="sm"/>
          </a:ln>
        </p:spPr>
      </p:cxnSp>
      <p:sp>
        <p:nvSpPr>
          <p:cNvPr id="19" name="">
            <a:extLst xmlns:a="http://schemas.openxmlformats.org/drawingml/2006/main">
              <a:ext uri="{FF2B5EF4-FFF2-40B4-BE49-F238E27FC236}">
                <a16:creationId xmlns:a16="http://schemas.microsoft.com/office/drawing/2014/main" id="{75893842-4DA9-448C-AD8F-6C32F23613D9}"/>
              </a:ext>
            </a:extLst>
          </p:cNvPr>
          <p:cNvSpPr>
            <a:spLocks xmlns:a="http://schemas.openxmlformats.org/drawingml/2006/main" noGrp="1"/>
          </p:cNvSpPr>
          <p:nvPr/>
        </p:nvSpPr>
        <p:spPr>
          <a:xfrm xmlns:a="http://schemas.openxmlformats.org/drawingml/2006/main">
            <a:off x="3752850" y="1495425"/>
            <a:ext cx="468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647066"/>
                </a:solidFill>
                <a:latin typeface="Helvetica Neue"/>
                <a:ea typeface="Helvetica Neue"/>
                <a:cs typeface="Helvetica Neue"/>
              </a:defRPr>
            </a:pPr>
            <a:r>
              <a:rPr sz="1350" b="1">
                <a:solidFill>
                  <a:srgbClr val="647066"/>
                </a:solidFill>
                <a:latin typeface="Helvetica Neue"/>
                <a:ea typeface="Helvetica Neue"/>
                <a:cs typeface="Helvetica Neue"/>
              </a:rPr>
              <a:t>DIRECT A2A: DISCOVERY ONLY</a:t>
            </a:r>
          </a:p>
        </p:txBody>
      </p:sp>
      <p:sp>
        <p:nvSpPr>
          <p:cNvPr id="20" name="">
            <a:extLst xmlns:a="http://schemas.openxmlformats.org/drawingml/2006/main">
              <a:ext uri="{FF2B5EF4-FFF2-40B4-BE49-F238E27FC236}">
                <a16:creationId xmlns:a16="http://schemas.microsoft.com/office/drawing/2014/main" id="{9BD15F00-05BB-4A38-B2DF-99679DB0BAE9}"/>
              </a:ext>
            </a:extLst>
          </p:cNvPr>
          <p:cNvSpPr>
            <a:spLocks xmlns:a="http://schemas.openxmlformats.org/drawingml/2006/main" noGrp="1"/>
          </p:cNvSpPr>
          <p:nvPr/>
        </p:nvSpPr>
        <p:spPr>
          <a:xfrm xmlns:a="http://schemas.openxmlformats.org/drawingml/2006/main">
            <a:off x="3714750" y="17526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0">
                <a:solidFill>
                  <a:srgbClr val="647066"/>
                </a:solidFill>
                <a:latin typeface="Helvetica Neue"/>
                <a:ea typeface="Helvetica Neue"/>
                <a:cs typeface="Helvetica Neue"/>
              </a:defRPr>
            </a:pPr>
            <a:r>
              <a:rPr sz="1350" b="0">
                <a:solidFill>
                  <a:srgbClr val="647066"/>
                </a:solidFill>
                <a:latin typeface="Helvetica Neue"/>
                <a:ea typeface="Helvetica Neue"/>
                <a:cs typeface="Helvetica Neue"/>
              </a:rPr>
              <a:t>Fixed catalogue price with a mandatory caveat</a:t>
            </a:r>
          </a:p>
        </p:txBody>
      </p:sp>
      <p:cxnSp>
        <p:nvCxnSpPr>
          <p:cNvPr id="54" name=""/>
          <p:cNvCxnSpPr>
            <a:stCxn xmlns:a="http://schemas.openxmlformats.org/drawingml/2006/main" id="3" idx="3"/>
            <a:endCxn xmlns:a="http://schemas.openxmlformats.org/drawingml/2006/main" id="9" idx="1"/>
          </p:cNvCxnSpPr>
          <p:nvPr/>
        </p:nvCxnSpPr>
        <p:spPr>
          <a:xfrm xmlns:a="http://schemas.openxmlformats.org/drawingml/2006/main">
            <a:off x="3009900" y="3552825"/>
            <a:ext cx="1485900" cy="66675"/>
          </a:xfrm>
          <a:prstGeom xmlns:a="http://schemas.openxmlformats.org/drawingml/2006/main" prst="straightConnector1">
            <a:avLst/>
          </a:prstGeom>
          <a:ln xmlns:a="http://schemas.openxmlformats.org/drawingml/2006/main" w="38100">
            <a:solidFill>
              <a:srgbClr val="4A6FE3"/>
            </a:solidFill>
            <a:prstDash val="solid"/>
            <a:headEnd type="triangle" w="med" len="med"/>
            <a:tailEnd type="triangle" w="med" len="med"/>
          </a:ln>
        </p:spPr>
      </p:cxnSp>
      <p:sp>
        <p:nvSpPr>
          <p:cNvPr id="22" name="">
            <a:extLst xmlns:a="http://schemas.openxmlformats.org/drawingml/2006/main">
              <a:ext uri="{FF2B5EF4-FFF2-40B4-BE49-F238E27FC236}">
                <a16:creationId xmlns:a16="http://schemas.microsoft.com/office/drawing/2014/main" id="{DE212D9D-9327-4D0F-8AB2-950007F08A0A}"/>
              </a:ext>
            </a:extLst>
          </p:cNvPr>
          <p:cNvSpPr>
            <a:spLocks xmlns:a="http://schemas.openxmlformats.org/drawingml/2006/main" noGrp="1"/>
          </p:cNvSpPr>
          <p:nvPr/>
        </p:nvSpPr>
        <p:spPr>
          <a:xfrm xmlns:a="http://schemas.openxmlformats.org/drawingml/2006/main">
            <a:off x="3048000" y="3086100"/>
            <a:ext cx="1390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4A6FE3"/>
                </a:solidFill>
                <a:latin typeface="Helvetica Neue"/>
                <a:ea typeface="Helvetica Neue"/>
                <a:cs typeface="Helvetica Neue"/>
              </a:defRPr>
            </a:pPr>
            <a:r>
              <a:rPr sz="1350" b="1">
                <a:solidFill>
                  <a:srgbClr val="4A6FE3"/>
                </a:solidFill>
                <a:latin typeface="Helvetica Neue"/>
                <a:ea typeface="Helvetica Neue"/>
                <a:cs typeface="Helvetica Neue"/>
              </a:rPr>
              <a:t>Private mandate</a:t>
            </a:r>
          </a:p>
        </p:txBody>
      </p:sp>
      <p:sp>
        <p:nvSpPr>
          <p:cNvPr id="23" name="">
            <a:extLst xmlns:a="http://schemas.openxmlformats.org/drawingml/2006/main">
              <a:ext uri="{FF2B5EF4-FFF2-40B4-BE49-F238E27FC236}">
                <a16:creationId xmlns:a16="http://schemas.microsoft.com/office/drawing/2014/main" id="{CE1C3225-37D3-4921-8C39-B004CC08487F}"/>
              </a:ext>
            </a:extLst>
          </p:cNvPr>
          <p:cNvSpPr>
            <a:spLocks xmlns:a="http://schemas.openxmlformats.org/drawingml/2006/main" noGrp="1"/>
          </p:cNvSpPr>
          <p:nvPr/>
        </p:nvSpPr>
        <p:spPr>
          <a:xfrm xmlns:a="http://schemas.openxmlformats.org/drawingml/2006/main">
            <a:off x="3009900" y="3895725"/>
            <a:ext cx="1466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1">
                <a:solidFill>
                  <a:srgbClr val="4A6FE3"/>
                </a:solidFill>
                <a:latin typeface="Helvetica Neue"/>
                <a:ea typeface="Helvetica Neue"/>
                <a:cs typeface="Helvetica Neue"/>
              </a:defRPr>
            </a:pPr>
            <a:r>
              <a:rPr sz="1275" b="1">
                <a:solidFill>
                  <a:srgbClr val="4A6FE3"/>
                </a:solidFill>
                <a:latin typeface="Helvetica Neue"/>
                <a:ea typeface="Helvetica Neue"/>
                <a:cs typeface="Helvetica Neue"/>
              </a:rPr>
              <a:t>Compromise / no deal</a:t>
            </a:r>
          </a:p>
        </p:txBody>
      </p:sp>
      <p:cxnSp>
        <p:nvCxnSpPr>
          <p:cNvPr id="57" name=""/>
          <p:cNvCxnSpPr>
            <a:stCxn xmlns:a="http://schemas.openxmlformats.org/drawingml/2006/main" id="9" idx="3"/>
            <a:endCxn xmlns:a="http://schemas.openxmlformats.org/drawingml/2006/main" id="6" idx="1"/>
          </p:cNvCxnSpPr>
          <p:nvPr/>
        </p:nvCxnSpPr>
        <p:spPr>
          <a:xfrm xmlns:a="http://schemas.openxmlformats.org/drawingml/2006/main" flipV="1">
            <a:off x="7696200" y="3552825"/>
            <a:ext cx="1485900" cy="66675"/>
          </a:xfrm>
          <a:prstGeom xmlns:a="http://schemas.openxmlformats.org/drawingml/2006/main" prst="straightConnector1">
            <a:avLst/>
          </a:prstGeom>
          <a:ln xmlns:a="http://schemas.openxmlformats.org/drawingml/2006/main" w="38100">
            <a:solidFill>
              <a:srgbClr val="EF765F"/>
            </a:solidFill>
            <a:prstDash val="solid"/>
            <a:headEnd type="triangle" w="med" len="med"/>
            <a:tailEnd type="triangle" w="med" len="med"/>
          </a:ln>
        </p:spPr>
      </p:cxnSp>
      <p:sp>
        <p:nvSpPr>
          <p:cNvPr id="25" name="">
            <a:extLst xmlns:a="http://schemas.openxmlformats.org/drawingml/2006/main">
              <a:ext uri="{FF2B5EF4-FFF2-40B4-BE49-F238E27FC236}">
                <a16:creationId xmlns:a16="http://schemas.microsoft.com/office/drawing/2014/main" id="{689EC80B-1794-4C24-85ED-BBBD00049F0E}"/>
              </a:ext>
            </a:extLst>
          </p:cNvPr>
          <p:cNvSpPr>
            <a:spLocks xmlns:a="http://schemas.openxmlformats.org/drawingml/2006/main" noGrp="1"/>
          </p:cNvSpPr>
          <p:nvPr/>
        </p:nvSpPr>
        <p:spPr>
          <a:xfrm xmlns:a="http://schemas.openxmlformats.org/drawingml/2006/main">
            <a:off x="7753350" y="3086100"/>
            <a:ext cx="1371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EF765F"/>
                </a:solidFill>
                <a:latin typeface="Helvetica Neue"/>
                <a:ea typeface="Helvetica Neue"/>
                <a:cs typeface="Helvetica Neue"/>
              </a:defRPr>
            </a:pPr>
            <a:r>
              <a:rPr sz="1350" b="1">
                <a:solidFill>
                  <a:srgbClr val="EF765F"/>
                </a:solidFill>
                <a:latin typeface="Helvetica Neue"/>
                <a:ea typeface="Helvetica Neue"/>
                <a:cs typeface="Helvetica Neue"/>
              </a:rPr>
              <a:t>Public request</a:t>
            </a:r>
          </a:p>
        </p:txBody>
      </p:sp>
      <p:sp>
        <p:nvSpPr>
          <p:cNvPr id="26" name="">
            <a:extLst xmlns:a="http://schemas.openxmlformats.org/drawingml/2006/main">
              <a:ext uri="{FF2B5EF4-FFF2-40B4-BE49-F238E27FC236}">
                <a16:creationId xmlns:a16="http://schemas.microsoft.com/office/drawing/2014/main" id="{D532751F-091B-40C7-A193-4EDD04F20070}"/>
              </a:ext>
            </a:extLst>
          </p:cNvPr>
          <p:cNvSpPr>
            <a:spLocks xmlns:a="http://schemas.openxmlformats.org/drawingml/2006/main" noGrp="1"/>
          </p:cNvSpPr>
          <p:nvPr/>
        </p:nvSpPr>
        <p:spPr>
          <a:xfrm xmlns:a="http://schemas.openxmlformats.org/drawingml/2006/main">
            <a:off x="7734300" y="3895725"/>
            <a:ext cx="1409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EF765F"/>
                </a:solidFill>
                <a:latin typeface="Helvetica Neue"/>
                <a:ea typeface="Helvetica Neue"/>
                <a:cs typeface="Helvetica Neue"/>
              </a:defRPr>
            </a:pPr>
            <a:r>
              <a:rPr sz="1350" b="1">
                <a:solidFill>
                  <a:srgbClr val="EF765F"/>
                </a:solidFill>
                <a:latin typeface="Helvetica Neue"/>
                <a:ea typeface="Helvetica Neue"/>
                <a:cs typeface="Helvetica Neue"/>
              </a:rPr>
              <a:t>Sealed coded bid</a:t>
            </a:r>
          </a:p>
        </p:txBody>
      </p:sp>
      <p:sp>
        <p:nvSpPr>
          <p:cNvPr id="27" name="">
            <a:extLst xmlns:a="http://schemas.openxmlformats.org/drawingml/2006/main">
              <a:ext uri="{FF2B5EF4-FFF2-40B4-BE49-F238E27FC236}">
                <a16:creationId xmlns:a16="http://schemas.microsoft.com/office/drawing/2014/main" id="{DABC639F-1A65-436E-9946-1AB0F79A9BC5}"/>
              </a:ext>
            </a:extLst>
          </p:cNvPr>
          <p:cNvSpPr>
            <a:spLocks xmlns:a="http://schemas.openxmlformats.org/drawingml/2006/main" noGrp="1"/>
          </p:cNvSpPr>
          <p:nvPr/>
        </p:nvSpPr>
        <p:spPr>
          <a:xfrm xmlns:a="http://schemas.openxmlformats.org/drawingml/2006/main">
            <a:off x="0" y="5124450"/>
            <a:ext cx="12192000" cy="1733550"/>
          </a:xfrm>
          <a:prstGeom xmlns:a="http://schemas.openxmlformats.org/drawingml/2006/main" prst="rect">
            <a:avLst/>
          </a:prstGeom>
          <a:solidFill xmlns:a="http://schemas.openxmlformats.org/drawingml/2006/main">
            <a:srgbClr val="172019"/>
          </a:solidFill>
          <a:ln xmlns:a="http://schemas.openxmlformats.org/drawingml/2006/main" w="0">
            <a:solidFill>
              <a:srgbClr val="172019"/>
            </a:solidFill>
          </a:ln>
        </p:spPr>
      </p:sp>
      <p:sp>
        <p:nvSpPr>
          <p:cNvPr id="28" name="">
            <a:extLst xmlns:a="http://schemas.openxmlformats.org/drawingml/2006/main">
              <a:ext uri="{FF2B5EF4-FFF2-40B4-BE49-F238E27FC236}">
                <a16:creationId xmlns:a16="http://schemas.microsoft.com/office/drawing/2014/main" id="{E4CE5930-80CF-4CAD-BC7A-8B966B2C0E2F}"/>
              </a:ext>
            </a:extLst>
          </p:cNvPr>
          <p:cNvSpPr>
            <a:spLocks xmlns:a="http://schemas.openxmlformats.org/drawingml/2006/main" noGrp="1"/>
          </p:cNvSpPr>
          <p:nvPr/>
        </p:nvSpPr>
        <p:spPr>
          <a:xfrm xmlns:a="http://schemas.openxmlformats.org/drawingml/2006/main">
            <a:off x="628650" y="538162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C9FF57"/>
                </a:solidFill>
                <a:latin typeface="Helvetica Neue"/>
                <a:ea typeface="Helvetica Neue"/>
                <a:cs typeface="Helvetica Neue"/>
              </a:defRPr>
            </a:pPr>
            <a:r>
              <a:rPr sz="1350" b="1">
                <a:solidFill>
                  <a:srgbClr val="C9FF57"/>
                </a:solidFill>
                <a:latin typeface="Helvetica Neue"/>
                <a:ea typeface="Helvetica Neue"/>
                <a:cs typeface="Helvetica Neue"/>
              </a:rPr>
              <a:t>WHY IT WORKS</a:t>
            </a:r>
          </a:p>
        </p:txBody>
      </p:sp>
      <p:sp>
        <p:nvSpPr>
          <p:cNvPr id="29" name="">
            <a:extLst xmlns:a="http://schemas.openxmlformats.org/drawingml/2006/main">
              <a:ext uri="{FF2B5EF4-FFF2-40B4-BE49-F238E27FC236}">
                <a16:creationId xmlns:a16="http://schemas.microsoft.com/office/drawing/2014/main" id="{35C7561E-6C22-40D1-855A-CE7C7061A517}"/>
              </a:ext>
            </a:extLst>
          </p:cNvPr>
          <p:cNvSpPr>
            <a:spLocks xmlns:a="http://schemas.openxmlformats.org/drawingml/2006/main" noGrp="1"/>
          </p:cNvSpPr>
          <p:nvPr/>
        </p:nvSpPr>
        <p:spPr>
          <a:xfrm xmlns:a="http://schemas.openxmlformats.org/drawingml/2006/main">
            <a:off x="628650" y="5772150"/>
            <a:ext cx="476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Model output has no pricing authority</a:t>
            </a:r>
          </a:p>
        </p:txBody>
      </p:sp>
      <p:sp>
        <p:nvSpPr>
          <p:cNvPr id="30" name="">
            <a:extLst xmlns:a="http://schemas.openxmlformats.org/drawingml/2006/main">
              <a:ext uri="{FF2B5EF4-FFF2-40B4-BE49-F238E27FC236}">
                <a16:creationId xmlns:a16="http://schemas.microsoft.com/office/drawing/2014/main" id="{D51FE4A7-9A96-4217-8499-FB2FE369D296}"/>
              </a:ext>
            </a:extLst>
          </p:cNvPr>
          <p:cNvSpPr>
            <a:spLocks xmlns:a="http://schemas.openxmlformats.org/drawingml/2006/main" noGrp="1"/>
          </p:cNvSpPr>
          <p:nvPr/>
        </p:nvSpPr>
        <p:spPr>
          <a:xfrm xmlns:a="http://schemas.openxmlformats.org/drawingml/2006/main">
            <a:off x="628650" y="6134100"/>
            <a:ext cx="4762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D6DDD7"/>
                </a:solidFill>
                <a:latin typeface="Helvetica Neue"/>
                <a:ea typeface="Helvetica Neue"/>
                <a:cs typeface="Helvetica Neue"/>
              </a:defRPr>
            </a:pPr>
            <a:r>
              <a:rPr sz="1500" b="0">
                <a:solidFill>
                  <a:srgbClr val="D6DDD7"/>
                </a:solidFill>
                <a:latin typeface="Helvetica Neue"/>
                <a:ea typeface="Helvetica Neue"/>
                <a:cs typeface="Helvetica Neue"/>
              </a:rPr>
              <a:t>Coded adapters supply bids. Runtime checks reject agent-supplied prices and approvals.</a:t>
            </a:r>
          </a:p>
        </p:txBody>
      </p:sp>
      <p:sp>
        <p:nvSpPr>
          <p:cNvPr id="31" name="">
            <a:extLst xmlns:a="http://schemas.openxmlformats.org/drawingml/2006/main">
              <a:ext uri="{FF2B5EF4-FFF2-40B4-BE49-F238E27FC236}">
                <a16:creationId xmlns:a16="http://schemas.microsoft.com/office/drawing/2014/main" id="{16CAB2A2-A088-4DF3-A339-7FF6FCF8286B}"/>
              </a:ext>
            </a:extLst>
          </p:cNvPr>
          <p:cNvSpPr>
            <a:spLocks xmlns:a="http://schemas.openxmlformats.org/drawingml/2006/main" noGrp="1"/>
          </p:cNvSpPr>
          <p:nvPr/>
        </p:nvSpPr>
        <p:spPr>
          <a:xfrm xmlns:a="http://schemas.openxmlformats.org/drawingml/2006/main">
            <a:off x="5905500" y="5524500"/>
            <a:ext cx="0" cy="1019175"/>
          </a:xfrm>
          <a:prstGeom xmlns:a="http://schemas.openxmlformats.org/drawingml/2006/main" prst="line">
            <a:avLst/>
          </a:prstGeom>
          <a:noFill xmlns:a="http://schemas.openxmlformats.org/drawingml/2006/main"/>
          <a:ln xmlns:a="http://schemas.openxmlformats.org/drawingml/2006/main" w="9525">
            <a:solidFill>
              <a:srgbClr val="485149"/>
            </a:solidFill>
            <a:prstDash val="solid"/>
          </a:ln>
        </p:spPr>
      </p:sp>
      <p:sp>
        <p:nvSpPr>
          <p:cNvPr id="32" name="">
            <a:extLst xmlns:a="http://schemas.openxmlformats.org/drawingml/2006/main">
              <a:ext uri="{FF2B5EF4-FFF2-40B4-BE49-F238E27FC236}">
                <a16:creationId xmlns:a16="http://schemas.microsoft.com/office/drawing/2014/main" id="{8FCCE2E4-3E28-48D2-914D-45382160647C}"/>
              </a:ext>
            </a:extLst>
          </p:cNvPr>
          <p:cNvSpPr>
            <a:spLocks xmlns:a="http://schemas.openxmlformats.org/drawingml/2006/main" noGrp="1"/>
          </p:cNvSpPr>
          <p:nvPr/>
        </p:nvSpPr>
        <p:spPr>
          <a:xfrm xmlns:a="http://schemas.openxmlformats.org/drawingml/2006/main">
            <a:off x="6400800" y="5772150"/>
            <a:ext cx="5143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The bargaining rule is deterministic</a:t>
            </a:r>
          </a:p>
        </p:txBody>
      </p:sp>
      <p:sp>
        <p:nvSpPr>
          <p:cNvPr id="33" name="">
            <a:extLst xmlns:a="http://schemas.openxmlformats.org/drawingml/2006/main">
              <a:ext uri="{FF2B5EF4-FFF2-40B4-BE49-F238E27FC236}">
                <a16:creationId xmlns:a16="http://schemas.microsoft.com/office/drawing/2014/main" id="{4E5DF1CB-FF2D-4C53-997A-D90FB6A31061}"/>
              </a:ext>
            </a:extLst>
          </p:cNvPr>
          <p:cNvSpPr>
            <a:spLocks xmlns:a="http://schemas.openxmlformats.org/drawingml/2006/main" noGrp="1"/>
          </p:cNvSpPr>
          <p:nvPr/>
        </p:nvSpPr>
        <p:spPr>
          <a:xfrm xmlns:a="http://schemas.openxmlformats.org/drawingml/2006/main">
            <a:off x="6400800" y="6134100"/>
            <a:ext cx="5000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D6DDD7"/>
                </a:solidFill>
                <a:latin typeface="Helvetica Neue"/>
                <a:ea typeface="Helvetica Neue"/>
                <a:cs typeface="Helvetica Neue"/>
              </a:defRPr>
            </a:pPr>
            <a:r>
              <a:rPr sz="1500" b="0">
                <a:solidFill>
                  <a:srgbClr val="D6DDD7"/>
                </a:solidFill>
                <a:latin typeface="Helvetica Neue"/>
                <a:ea typeface="Helvetica Neue"/>
                <a:cs typeface="Helvetica Neue"/>
              </a:rPr>
              <a:t>Commitments bind one deal and provider. Empty feasible ranges return NO AGREEMENT.</a:t>
            </a:r>
          </a:p>
        </p:txBody>
      </p:sp>
    </p:spTree>
    <p:extLst>
      <p:ext uri="{BB962C8B-B14F-4D97-AF65-F5344CB8AC3E}">
        <p14:creationId xmlns:p14="http://schemas.microsoft.com/office/powerpoint/2010/main" val="7691825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2026-09-18T19:47:19.9760000Z</dcterms:created>
  <dcterms:modified xsi:type="dcterms:W3CDTF">2026-09-18T19:47:19.9760000Z</dcterms:modified>
</coreProperties>
</file>