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dd6b057d9934f44" /><Relationship Type="http://schemas.openxmlformats.org/officeDocument/2006/relationships/extended-properties" Target="/docProps/app.xml" Id="R51c67c5edd4f4eb6" /><Relationship Type="http://schemas.openxmlformats.org/officeDocument/2006/relationships/officeDocument" Target="/ppt/presentation.xml" Id="R968b86b4f0164e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42535d3cee84eff"/>
  </p:sldMasterIdLst>
  <p:notesMasterIdLst>
    <p:notesMasterId xmlns:r="http://schemas.openxmlformats.org/officeDocument/2006/relationships" r:id="R47203dba2e854e76"/>
  </p:notesMasterIdLst>
  <p:sldIdLst>
    <p:sldId xmlns:r="http://schemas.openxmlformats.org/officeDocument/2006/relationships" id="256" r:id="R79cc6be9aa51494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ef404f827c14ff4" /><Relationship Type="http://schemas.openxmlformats.org/officeDocument/2006/relationships/slideMaster" Target="/ppt/slideMasters/slideMaster1.xml" Id="Rd42535d3cee84eff" /><Relationship Type="http://schemas.openxmlformats.org/officeDocument/2006/relationships/notesMaster" Target="/ppt/notesMasters/notesMaster1.xml" Id="R47203dba2e854e76" /><Relationship Type="http://schemas.openxmlformats.org/officeDocument/2006/relationships/presProps" Target="/ppt/presProps.xml" Id="R5ef494d82f0143d2" /><Relationship Type="http://schemas.openxmlformats.org/officeDocument/2006/relationships/tableStyles" Target="/ppt/tableStyles.xml" Id="Reddc87053c4c41e9" /><Relationship Type="http://schemas.openxmlformats.org/officeDocument/2006/relationships/slide" Target="/ppt/slides/slide1.xml" Id="R79cc6be9aa5149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e46210cb974e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2ba15e25cc64fc1" /><Relationship Type="http://schemas.openxmlformats.org/officeDocument/2006/relationships/notesMaster" Target="/ppt/notesMasters/notesMaster1.xml" Id="Rf6a5f96289ec45d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Based on the agent-commerce-demo implementation. Direct agent-to-agent conversations remain available for discovery, but middleware replaces price claims with fixed catalogue data and a caveat. The arbiter alone issues provider-scoped capabilities, runs negotiation rounds, registers offers, and accepts owner-controlled settlement actions.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409f546f2d48e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b91bc469698436a" /><Relationship Type="http://schemas.openxmlformats.org/officeDocument/2006/relationships/slideLayout" Target="/ppt/slideLayouts/slideLayout1.xml" Id="R65ea96e18262408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ea96e18262408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50e3cb198d4a9c" /><Relationship Type="http://schemas.openxmlformats.org/officeDocument/2006/relationships/notesSlide" Target="/ppt/notesSlides/notesSlide1.xml" Id="R1a3b8c035b0b476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D84AFB1-A61A-45F9-A346-49BC132AD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225" b="1">
                <a:solidFill>
                  <a:srgbClr val="1720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 b="1">
                <a:solidFill>
                  <a:srgbClr val="172019"/>
                </a:solidFill>
                <a:latin typeface="Helvetica Neue"/>
                <a:ea typeface="Helvetica Neue"/>
                <a:cs typeface="Helvetica Neue"/>
              </a:rPr>
              <a:t>Commerce arbiter: shared transaction authority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29F410-80CC-45BF-B510-CA45935E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7155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4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647066"/>
                </a:solidFill>
                <a:latin typeface="Helvetica Neue"/>
                <a:ea typeface="Helvetica Neue"/>
                <a:cs typeface="Helvetica Neue"/>
              </a:rPr>
              <a:t>Direct A2A supports discovery. The coded arbiter controls offers and settlement.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0B2611-8A60-43F8-8153-2B71DCEF9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43200"/>
            <a:ext cx="2381250" cy="161925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4A6FE3"/>
          </a:solidFill>
          <a:ln xmlns:a="http://schemas.openxmlformats.org/drawingml/2006/main" w="9525">
            <a:solidFill>
              <a:srgbClr val="4A6F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C89132-5D3A-4824-8FBE-5171DCB21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81325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CONSUMER AGENT NETWORK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30B5DF-41E5-4B3A-A5F1-964FA6887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400425"/>
            <a:ext cx="19812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Mandate specialist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7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Research and comparison agents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27283E-AFEA-4A77-9FB8-A75A4974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743200"/>
            <a:ext cx="2381250" cy="161925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EF765F"/>
          </a:solidFill>
          <a:ln xmlns:a="http://schemas.openxmlformats.org/drawingml/2006/main" w="9525">
            <a:solidFill>
              <a:srgbClr val="EF765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5E5F5A-FAC1-4C72-A05A-B8000CAEC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981325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B2C AGENT NETWORKS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1948D6-4606-4654-A5AF-DB3191EED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400425"/>
            <a:ext cx="19812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Travel providers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7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Macy’s and CarMax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D35F83-66F4-4EEE-927A-A2150D114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33625"/>
            <a:ext cx="3200400" cy="25717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C9FF57"/>
          </a:solidFill>
          <a:ln xmlns:a="http://schemas.openxmlformats.org/drawingml/2006/main" w="9525">
            <a:solidFill>
              <a:srgbClr val="41631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7F0AF3-0382-496B-BDE4-A57BFA7FE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33650"/>
            <a:ext cx="2667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1720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72019"/>
                </a:solidFill>
                <a:latin typeface="Helvetica Neue"/>
                <a:ea typeface="Helvetica Neue"/>
                <a:cs typeface="Helvetica Neue"/>
              </a:rPr>
              <a:t>COMMERCE ARBITER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83C57D-C36B-4560-A756-E6892C49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924175"/>
            <a:ext cx="2438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1631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12924C-776A-445C-B209-C008B1DD8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3076575"/>
            <a:ext cx="2533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1720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72019"/>
                </a:solidFill>
                <a:latin typeface="Helvetica Neue"/>
                <a:ea typeface="Helvetica Neue"/>
                <a:cs typeface="Helvetica Neue"/>
              </a:rPr>
              <a:t>Keeps the mandate and budget private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E46224-87EB-474F-B05C-FCBB45F78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3505200"/>
            <a:ext cx="2533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1720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72019"/>
                </a:solidFill>
                <a:latin typeface="Helvetica Neue"/>
                <a:ea typeface="Helvetica Neue"/>
                <a:cs typeface="Helvetica Neue"/>
              </a:rPr>
              <a:t>Runs the fixed negotiation protocol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B1874D-05FB-49E7-80BC-89483EFA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3933825"/>
            <a:ext cx="2533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17201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72019"/>
                </a:solidFill>
                <a:latin typeface="Helvetica Neue"/>
                <a:ea typeface="Helvetica Neue"/>
                <a:cs typeface="Helvetica Neue"/>
              </a:rPr>
              <a:t>Registers immutable offers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396AFE-599B-4634-BC3B-2B822A74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672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41631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416312"/>
                </a:solidFill>
                <a:latin typeface="Helvetica Neue"/>
                <a:ea typeface="Helvetica Neue"/>
                <a:cs typeface="Helvetica Neue"/>
              </a:rPr>
              <a:t>Owner approval controls hold and settlement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B0ECA3-EED0-403A-82A4-21ABD6A47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124075"/>
            <a:ext cx="19050" cy="19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1E8"/>
          </a:solidFill>
          <a:ln xmlns:a="http://schemas.openxmlformats.org/drawingml/2006/main" w="0">
            <a:solidFill>
              <a:srgbClr val="F4F1E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BEAD3D-31CC-43B5-A53A-033FADE44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124075"/>
            <a:ext cx="19050" cy="19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1E8"/>
          </a:solidFill>
          <a:ln xmlns:a="http://schemas.openxmlformats.org/drawingml/2006/main" w="0">
            <a:solidFill>
              <a:srgbClr val="F4F1E8"/>
            </a:solidFill>
          </a:ln>
        </p:spPr>
      </p:sp>
      <p:cxnSp>
        <p:nvCxnSpPr>
          <p:cNvPr id="51" name=""/>
          <p:cNvCxnSpPr>
            <a:stCxn xmlns:a="http://schemas.openxmlformats.org/drawingml/2006/main" id="16" idx="6"/>
            <a:endCxn xmlns:a="http://schemas.openxmlformats.org/drawingml/2006/main" id="17" idx="2"/>
          </p:cNvCxnSpPr>
          <p:nvPr/>
        </p:nvCxnSpPr>
        <p:spPr>
          <a:xfrm xmlns:a="http://schemas.openxmlformats.org/drawingml/2006/main">
            <a:off x="3019425" y="2133600"/>
            <a:ext cx="61531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7B0A7"/>
            </a:solidFill>
            <a:prstDash val="dash"/>
            <a:headEnd type="arrow" w="sm" len="sm"/>
            <a:tailEnd type="arrow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632C05-4370-4978-BD4F-BE12DE32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495425"/>
            <a:ext cx="46863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64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647066"/>
                </a:solidFill>
                <a:latin typeface="Helvetica Neue"/>
                <a:ea typeface="Helvetica Neue"/>
                <a:cs typeface="Helvetica Neue"/>
              </a:rPr>
              <a:t>DIRECT A2A: DISCOVERY ONLY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3DC301-49A6-47F8-A77C-670655858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75260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4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47066"/>
                </a:solidFill>
                <a:latin typeface="Helvetica Neue"/>
                <a:ea typeface="Helvetica Neue"/>
                <a:cs typeface="Helvetica Neue"/>
              </a:rPr>
              <a:t>Fixed catalogue price with a mandatory caveat</a:t>
            </a:r>
          </a:p>
        </p:txBody>
      </p:sp>
      <p:cxnSp>
        <p:nvCxnSpPr>
          <p:cNvPr id="54" name=""/>
          <p:cNvCxnSpPr>
            <a:stCxn xmlns:a="http://schemas.openxmlformats.org/drawingml/2006/main" id="3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009900" y="3552825"/>
            <a:ext cx="1485900" cy="66675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4A6FE3"/>
            </a:solidFill>
            <a:prstDash val="solid"/>
            <a:headEnd type="triangle" w="med" len="med"/>
            <a:tailEnd type="triangle" w="med" len="med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0F5D02-4C30-4404-AC98-C479088D1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86100"/>
            <a:ext cx="13906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4A6FE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4A6FE3"/>
                </a:solidFill>
                <a:latin typeface="Helvetica Neue"/>
                <a:ea typeface="Helvetica Neue"/>
                <a:cs typeface="Helvetica Neue"/>
              </a:rPr>
              <a:t>Private mandate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389FD2-6C7E-453E-BC68-AF0832C8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895725"/>
            <a:ext cx="13906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4A6FE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4A6FE3"/>
                </a:solidFill>
                <a:latin typeface="Helvetica Neue"/>
                <a:ea typeface="Helvetica Neue"/>
                <a:cs typeface="Helvetica Neue"/>
              </a:rPr>
              <a:t>Canonical shortlist</a:t>
            </a:r>
          </a:p>
        </p:txBody>
      </p:sp>
      <p:cxnSp>
        <p:nvCxnSpPr>
          <p:cNvPr id="57" name=""/>
          <p:cNvCxnSpPr>
            <a:stCxn xmlns:a="http://schemas.openxmlformats.org/drawingml/2006/main" id="9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7696200" y="3552825"/>
            <a:ext cx="1485900" cy="66675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F765F"/>
            </a:solidFill>
            <a:prstDash val="solid"/>
            <a:headEnd type="triangle" w="med" len="med"/>
            <a:tailEnd type="triangle" w="med" len="med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23EA4D-6ACF-4E9F-945A-14716E662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86100"/>
            <a:ext cx="1371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EF76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EF765F"/>
                </a:solidFill>
                <a:latin typeface="Helvetica Neue"/>
                <a:ea typeface="Helvetica Neue"/>
                <a:cs typeface="Helvetica Neue"/>
              </a:rPr>
              <a:t>Public request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140C97-25D9-47CD-9270-4662CA37F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895725"/>
            <a:ext cx="1409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EF76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EF765F"/>
                </a:solidFill>
                <a:latin typeface="Helvetica Neue"/>
                <a:ea typeface="Helvetica Neue"/>
                <a:cs typeface="Helvetica Neue"/>
              </a:rPr>
              <a:t>Policy-coded quote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80E227-FAA8-4F74-B888-3BBEFA74C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24450"/>
            <a:ext cx="121920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19"/>
          </a:solidFill>
          <a:ln xmlns:a="http://schemas.openxmlformats.org/drawingml/2006/main" w="0">
            <a:solidFill>
              <a:srgbClr val="172019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3C5248-D87C-4B7E-8867-5A2256F8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816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9FF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C9FF57"/>
                </a:solidFill>
                <a:latin typeface="Helvetica Neue"/>
                <a:ea typeface="Helvetica Neue"/>
                <a:cs typeface="Helvetica Neue"/>
              </a:rPr>
              <a:t>WHY IT WORKS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ACB110-024E-425D-8A0A-2AE74161F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72150"/>
            <a:ext cx="4762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Model output has no transaction authority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9F4CF5-3D03-4EA8-B281-94787F425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34100"/>
            <a:ext cx="4762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D6DDD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D6DDD7"/>
                </a:solidFill>
                <a:latin typeface="Helvetica Neue"/>
                <a:ea typeface="Helvetica Neue"/>
                <a:cs typeface="Helvetica Neue"/>
              </a:rPr>
              <a:t>Runtime checks reject agent-supplied prices, identities, budgets and approvals.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2911A58-A411-4451-A62D-A0018FFE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524500"/>
            <a:ext cx="0" cy="10191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8514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B249480-8D75-4168-89EC-65EB53B99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772150"/>
            <a:ext cx="5143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Capabilities enforce the permitted route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B972F45-2777-4143-96B4-A3FD3A2C1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6134100"/>
            <a:ext cx="50006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D6DDD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D6DDD7"/>
                </a:solidFill>
                <a:latin typeface="Helvetica Neue"/>
                <a:ea typeface="Helvetica Neue"/>
                <a:cs typeface="Helvetica Neue"/>
              </a:rPr>
              <a:t>Every call binds to one deal, provider and round. Owner credentials stay outside agent context.</a:t>
            </a:r>
          </a:p>
        </p:txBody>
      </p:sp>
    </p:spTree>
    <p:extLst>
      <p:ext uri="{BB962C8B-B14F-4D97-AF65-F5344CB8AC3E}">
        <p14:creationId xmlns:p14="http://schemas.microsoft.com/office/powerpoint/2010/main" val="7894228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2026-09-18T19:24:10.0300000Z</dcterms:created>
  <dcterms:modified xsi:type="dcterms:W3CDTF">2026-09-18T19:24:10.0300000Z</dcterms:modified>
</coreProperties>
</file>